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6" r:id="rId17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8288" cy="685800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MIDNIGHT BUILDATHON · WAVE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 i="0">
                <a:solidFill>
                  <a:srgbClr val="F5F5F4"/>
                </a:solidFill>
                <a:latin typeface="Fraunces"/>
              </a:rPr>
              <a:t>GotIt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100" b="1" i="0">
                <a:solidFill>
                  <a:srgbClr val="FACC15"/>
                </a:solidFill>
                <a:latin typeface="Fraunces"/>
              </a:rPr>
              <a:t>Publish a pay gap report.</a:t>
            </a:r>
          </a:p>
          <a:p>
            <a:pPr algn="l">
              <a:lnSpc>
                <a:spcPct val="122000"/>
              </a:lnSpc>
            </a:pPr>
            <a:r>
              <a:rPr sz="2100" b="1" i="0">
                <a:solidFill>
                  <a:srgbClr val="FACC15"/>
                </a:solidFill>
                <a:latin typeface="Fraunces"/>
              </a:rPr>
              <a:t>Never expose one employee.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Provable pay transparency for EU employers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under Directive (EU) 2023/970</a:t>
            </a:r>
          </a:p>
        </p:txBody>
      </p:sp>
      <p:pic>
        <p:nvPicPr>
          <p:cNvPr id="9" name="Picture 8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685800"/>
            <a:ext cx="6583680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92040" y="685800"/>
            <a:ext cx="6583680" cy="4572000"/>
          </a:xfrm>
          <a:prstGeom prst="rect">
            <a:avLst/>
          </a:prstGeom>
          <a:noFill/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5330952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1717A"/>
                </a:solidFill>
                <a:latin typeface="Inter"/>
              </a:rPr>
              <a:t>The deployed app — no wallet needed to 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5F5F4"/>
                </a:solidFill>
                <a:latin typeface="Fraunces"/>
              </a:rPr>
              <a:t>Compliance asks you to do two things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5F5F4"/>
                </a:solidFill>
                <a:latin typeface="Fraunces"/>
              </a:rPr>
              <a:t>that contradict each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3429000" cy="457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5000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ACC15"/>
                </a:solidFill>
                <a:latin typeface="Inter"/>
              </a:rPr>
              <a:t>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70632"/>
            <a:ext cx="29169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Art. 9 requires mean and median gaps, base vs variable pay, and the quartile distribution — by category of worker.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574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57400"/>
            <a:ext cx="3429000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35000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2C55E"/>
                </a:solidFill>
                <a:latin typeface="Inter"/>
              </a:rPr>
              <a:t>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770632"/>
            <a:ext cx="29169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GDPR and data-minimisation forbid letting those same statistics identify a person. A 12-person quartile table is a privacy incident.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1772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A1500"/>
          </a:solidFill>
          <a:ln w="12700">
            <a:solidFill>
              <a:srgbClr val="713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FACC15"/>
                </a:solidFill>
                <a:latin typeface="Inter"/>
              </a:rPr>
              <a:t>A group of three cannot be published without publishing three people's pay. The employer is the one holding both legal duties.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321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71717A"/>
                </a:solidFill>
                <a:latin typeface="Inter"/>
              </a:rPr>
              <a:t>From 7 June 2027. First reports due for every EU employer with 150+ staff. An unjustified gap of 5% triggers a joint pay assessment.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5F5F4"/>
                </a:solidFill>
                <a:latin typeface="Fraunces"/>
              </a:rPr>
              <a:t>A pay gap report that proves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A1A1AA"/>
                </a:solidFill>
                <a:latin typeface="Inter"/>
              </a:rPr>
              <a:t>Four steps, and three of them are privacy properties rather than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Employees commit privately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Each person enters job category, gender and base/variable pay in a form on their own device. The salary is a private witness.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Only counts reach the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A count per (category × gender × component × bucket) rises on-chain, computed by the employee's own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Small groups cannot be read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The read circuit returns 0 for any group below the threshold. It is enforced in the contract, so an employer cannot override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The employer ships proof, not assertions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Anyone can verify the report against chain state — with no wallet and no court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30368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A1A0F"/>
          </a:solidFill>
          <a:ln w="12700">
            <a:solidFill>
              <a:srgbClr val="143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30368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2C55E"/>
                </a:solidFill>
                <a:latin typeface="Inter"/>
              </a:rPr>
              <a:t>The result: an auditor, a works council or a journalist can confirm the report is real — without any individual's salary ever leaving their device.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BACKEND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5F5F4"/>
                </a:solidFill>
                <a:latin typeface="Fraunces"/>
              </a:rPr>
              <a:t>Disclosure control lives in the circuit,</a:t>
            </a:r>
          </a:p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5F5F4"/>
                </a:solidFill>
                <a:latin typeface="Fraunces"/>
              </a:rPr>
              <a:t>not in the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CC15"/>
                </a:solidFill>
                <a:latin typeface="Inter"/>
              </a:rPr>
              <a:t>This is the part a competitor cannot copy with a UI toggle.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51460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What it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2514600"/>
            <a:ext cx="1307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Enforced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2549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getHistogram(category, gender, component, bucket)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90779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returns 0 when the group is below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2907792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enforced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7355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groupCount(category, gender, component)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35584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one counter per group, so a full team never lifts a team of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3355848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per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21608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0390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kThreshold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0390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fixed at deploy, readable on-chain via readK()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803904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F5F4"/>
                </a:solidFill>
                <a:latin typeface="Inter"/>
              </a:rPr>
              <a:t>public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69664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5196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nullifiers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25196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hash(secret, period) — one submission per person, per 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4251960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cryptographic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17720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001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70001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hash(secret), issuer-gated. The issuer never sees the secret.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4700016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issuer-gated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57800"/>
            <a:ext cx="10820095" cy="73152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257800"/>
            <a:ext cx="1027145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7 circuits · 34 tests running the generated contract off-chain · hash parity between the browser and the circuits asserted on every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THE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5F5F4"/>
                </a:solidFill>
                <a:latin typeface="Fraunces"/>
              </a:rPr>
              <a:t>The report a compliance officer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5F5F4"/>
                </a:solidFill>
                <a:latin typeface="Fraunces"/>
              </a:rPr>
              <a:t>actually files.</a:t>
            </a:r>
          </a:p>
        </p:txBody>
      </p:sp>
      <p:pic>
        <p:nvPicPr>
          <p:cNvPr id="5" name="Picture 4" descr="02-report-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288" y="457200"/>
            <a:ext cx="3692624" cy="5623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3288" y="457200"/>
            <a:ext cx="3692624" cy="5623560"/>
          </a:xfrm>
          <a:prstGeom prst="rect">
            <a:avLst/>
          </a:prstGeom>
          <a:noFill/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3288" y="6153912"/>
            <a:ext cx="3692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1717A"/>
                </a:solidFill>
                <a:latin typeface="Inter"/>
              </a:rPr>
              <a:t>Illustrative data — the live report reads live chain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68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Directive (EU) 2023/970 Art. 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35608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44168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Art. 9(1)(a)–(e) — </a:t>
            </a:r>
            <a:r>
              <a:rPr sz="1200">
                <a:solidFill>
                  <a:srgbClr val="A1A1AA"/>
                </a:solidFill>
                <a:latin typeface="Inter"/>
              </a:rPr>
              <a:t>mean gap, median gap, variable-component gap, and the share receiving variable pay.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13432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21992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Quartile distribution </a:t>
            </a:r>
            <a:r>
              <a:rPr sz="1200">
                <a:solidFill>
                  <a:srgbClr val="A1A1AA"/>
                </a:solidFill>
                <a:latin typeface="Inter"/>
              </a:rPr>
              <a:t>across each category of worker.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25496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734056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Means are intervals, </a:t>
            </a:r>
            <a:r>
              <a:rPr sz="1200">
                <a:solidFill>
                  <a:srgbClr val="A1A1AA"/>
                </a:solidFill>
                <a:latin typeface="Inter"/>
              </a:rPr>
              <a:t>not point estimates. Bucketed data only bounds the truth; pretending otherwise is a rounding error dressed as a statistic.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86200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794760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Materiality uses the bound nearest zero, </a:t>
            </a:r>
            <a:r>
              <a:rPr sz="1200">
                <a:solidFill>
                  <a:srgbClr val="A1A1AA"/>
                </a:solidFill>
                <a:latin typeface="Inter"/>
              </a:rPr>
              <a:t>not the midpoint. A range of [−33%, +50%] has a +8.3% midpoint but no provable sign — flagging it would trigger a joint pay assessment on a compliant category.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1717A"/>
                </a:solidFill>
                <a:latin typeface="Inter"/>
              </a:rPr>
              <a:t>THE PART WE ARE MOST PLEASED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5F4"/>
                </a:solidFill>
                <a:latin typeface="Fraunces"/>
              </a:rPr>
              <a:t>Art. 9(1)(e) cannot be computed.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5F4"/>
                </a:solidFill>
                <a:latin typeface="Fraunces"/>
              </a:rPr>
              <a:t>We can prove why — and what we refused.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5915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71717A"/>
                </a:solidFill>
                <a:latin typeface="Inter"/>
              </a:rPr>
              <a:t>THE QUESTION THE DIRECTIVE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4709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1A1AA"/>
                </a:solidFill>
                <a:latin typeface="Inter"/>
              </a:rPr>
              <a:t>The proportion of each group receiving complementary or variable pay.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A1A1AA"/>
                </a:solidFill>
                <a:latin typeface="Inter"/>
              </a:rPr>
              <a:t>Every published report answers it with a single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0312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35915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71717A"/>
                </a:solidFill>
                <a:latin typeface="Inter"/>
              </a:rPr>
              <a:t>WHY OURS CANNOT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24912"/>
            <a:ext cx="4709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A1A1AA"/>
                </a:solidFill>
                <a:latin typeface="Inter"/>
              </a:rPr>
              <a:t>The ledger keeps base-pay and variable-pay submissions in separate, unlinkable cells — which is the property everything else depends on. So |base| and |variable| are exact, but their intersection is not known.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5181447" cy="914400"/>
          </a:xfrm>
          <a:prstGeom prst="roundRect">
            <a:avLst>
              <a:gd name="adj" fmla="val 6000"/>
            </a:avLst>
          </a:prstGeom>
          <a:solidFill>
            <a:srgbClr val="1A1500"/>
          </a:solidFill>
          <a:ln w="12700">
            <a:solidFill>
              <a:srgbClr val="713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754880"/>
            <a:ext cx="4705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ACC15"/>
                </a:solidFill>
                <a:latin typeface="Inter"/>
              </a:rPr>
              <a:t>LINK A PERSON'S BASE AND VARIABLE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5047488"/>
            <a:ext cx="4705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Reveals both figures for one individual. Refused: it defeats the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4572000"/>
            <a:ext cx="5181447" cy="914400"/>
          </a:xfrm>
          <a:prstGeom prst="roundRect">
            <a:avLst>
              <a:gd name="adj" fmla="val 6000"/>
            </a:avLst>
          </a:prstGeom>
          <a:solidFill>
            <a:srgbClr val="1A1500"/>
          </a:solidFill>
          <a:ln w="12700">
            <a:solidFill>
              <a:srgbClr val="713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2191" y="4754880"/>
            <a:ext cx="4705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FACC15"/>
                </a:solidFill>
                <a:latin typeface="Inter"/>
              </a:rPr>
              <a:t>COUNT DISTINCT CONTRIBUTORS PER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5047488"/>
            <a:ext cx="4705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A second nullifier would reveal that one person submitted both. Refused.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760720"/>
            <a:ext cx="10820095" cy="658368"/>
          </a:xfrm>
          <a:prstGeom prst="roundRect">
            <a:avLst>
              <a:gd name="adj" fmla="val 6000"/>
            </a:avLst>
          </a:prstGeom>
          <a:solidFill>
            <a:srgbClr val="0A1A0F"/>
          </a:solidFill>
          <a:ln w="12700">
            <a:solidFill>
              <a:srgbClr val="143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0720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1">
                <a:solidFill>
                  <a:srgbClr val="22C55E"/>
                </a:solidFill>
                <a:latin typeface="Inter"/>
              </a:rPr>
              <a:t>So we publish the interval the model bounds, and the reason it cannot be tightened. A reviewer can check the reasoning rather than take a number on trust.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F5F5F4"/>
                </a:solidFill>
                <a:latin typeface="Fraunces"/>
              </a:rPr>
              <a:t>Anyone can check it. No wallet, no account.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5F4"/>
                </a:solidFill>
                <a:latin typeface="Inter"/>
              </a:rPr>
              <a:t>The employer publishes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a report plus a fingerprint taken over the exact bucket counts it was built from.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0116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5F4"/>
                </a:solidFill>
                <a:latin typeface="Inter"/>
              </a:rPr>
              <a:t>Anyone pastes that fingerprint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into the verify page. It re-reads chain state and answers match or mismatch.</a:t>
            </a:r>
          </a:p>
        </p:txBody>
      </p:sp>
      <p:pic>
        <p:nvPicPr>
          <p:cNvPr id="11" name="Picture 10" descr="03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55" y="3794760"/>
            <a:ext cx="3171329" cy="228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89055" y="3794760"/>
            <a:ext cx="3171329" cy="2286000"/>
          </a:xfrm>
          <a:prstGeom prst="rect">
            <a:avLst/>
          </a:prstGeom>
          <a:noFill/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9055" y="6153912"/>
            <a:ext cx="31713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1717A"/>
                </a:solidFill>
                <a:latin typeface="Inter"/>
              </a:rPr>
              <a:t>Verification needs no wallet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86200"/>
            <a:ext cx="4922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CC15"/>
                </a:solidFill>
                <a:latin typeface="Inter"/>
              </a:rPr>
              <a:t>What this does and does not prove — stated on the page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407408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4315968"/>
            <a:ext cx="47210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F5F5F4"/>
                </a:solidFill>
                <a:latin typeface="Inter"/>
              </a:rPr>
              <a:t>Proves </a:t>
            </a:r>
            <a:r>
              <a:rPr sz="1150">
                <a:solidFill>
                  <a:srgbClr val="A1A1AA"/>
                </a:solidFill>
                <a:latin typeface="Inter"/>
              </a:rPr>
              <a:t>the figures were derived from the counts on chain, and that recomputing them yields the same numbers.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5102352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5010912"/>
            <a:ext cx="47210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F5F5F4"/>
                </a:solidFill>
                <a:latin typeface="Inter"/>
              </a:rPr>
              <a:t>Does not prove </a:t>
            </a:r>
            <a:r>
              <a:rPr sz="1150">
                <a:solidFill>
                  <a:srgbClr val="A1A1AA"/>
                </a:solidFill>
                <a:latin typeface="Inter"/>
              </a:rPr>
              <a:t>that anyone was paid what they said, or that everyone participated. Participation is voluntary, so the report states its own coverage.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5F5F4"/>
                </a:solidFill>
                <a:latin typeface="Fraunces"/>
              </a:rPr>
              <a:t>Without ZK you can have one or the other.</a:t>
            </a:r>
          </a:p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5F5F4"/>
                </a:solidFill>
                <a:latin typeface="Fraunces"/>
              </a:rPr>
              <a:t>With it, you can have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231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4231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Proves the data is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42316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Protects individuals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423160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3405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Payroll spreadsheet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1635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1635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16352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— it is the raw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HR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28269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82696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82696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gameable, uneven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666744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49040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“Anonymised” CSV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49040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4904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749040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small cells re-identify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133088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15384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Employer attestation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215384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21538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depends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215384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it is a promise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59943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81728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Equilux · Wave 1 winner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68172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partial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68172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81728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12 circuits; judge asked for an HRIS plugin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06577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4807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GotIt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14807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14807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148072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verified, gated in-circuit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44068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71717A"/>
                </a:solidFill>
                <a:latin typeface="Inter"/>
              </a:rPr>
              <a:t>The honest gap: our issuer still learns who works where. It cannot link a person to their figure, because it never receives the secret that derives the nullifier — but removing it entirely is Wave 3.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F5F5F4"/>
                </a:solidFill>
                <a:latin typeface="Fraunces"/>
              </a:rPr>
              <a:t>Five things that were genuinely hard.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29968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38528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Counting meant giving up a Counter. </a:t>
            </a:r>
            <a:r>
              <a:rPr sz="1300">
                <a:solidFill>
                  <a:srgbClr val="A1A1AA"/>
                </a:solidFill>
                <a:latin typeface="Inter"/>
              </a:rPr>
              <a:t>Counter is not readable inside Compact 0.23 circuits — the contract could count but never report. Replaced with a readable singleton cell.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79776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688336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A bucketed mean is not a mean. </a:t>
            </a:r>
            <a:r>
              <a:rPr sz="1300">
                <a:solidFill>
                  <a:srgbClr val="A1A1AA"/>
                </a:solidFill>
                <a:latin typeface="Inter"/>
              </a:rPr>
              <a:t>The first version published point estimates. $124,900 and $100,000 land in the same bucket but are not the same number. Every mean and gap is now an interval.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29584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438144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A midpoint is not a defensible materiality test. </a:t>
            </a:r>
            <a:r>
              <a:rPr sz="1300">
                <a:solidFill>
                  <a:srgbClr val="A1A1AA"/>
                </a:solidFill>
                <a:latin typeface="Inter"/>
              </a:rPr>
              <a:t>Flagging against a midpoint would cry wolf on a compliant category and trigger a joint pay assessment. Only a proven 5% disparity counts.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279392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187952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Hash parity between the browser and the circuits. </a:t>
            </a:r>
            <a:r>
              <a:rPr sz="1300">
                <a:solidFill>
                  <a:srgbClr val="A1A1AA"/>
                </a:solidFill>
                <a:latin typeface="Inter"/>
              </a:rPr>
              <a:t>One drift and a salary lands in the wrong cell, silently. 34 tests run the generated contract to make it impossible.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937760"/>
            <a:ext cx="1061618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Our own test suite was validating a stale build. </a:t>
            </a:r>
            <a:r>
              <a:rPr sz="1300">
                <a:solidFill>
                  <a:srgbClr val="A1A1AA"/>
                </a:solidFill>
                <a:latin typeface="Inter"/>
              </a:rPr>
              <a:t>The web tests resolved the shared package to its committed dist/ rather than its source, so 42 of them passed against engine code that had since changed — which is exactly why two headline bugs were invisible to the entire web suite. A green suite that tests the wrong artefact is worse than no suite.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070348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ACC15"/>
                </a:solidFill>
                <a:latin typeface="Inter"/>
              </a:rPr>
              <a:t>HOW WE LOST WAVE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5F5F4"/>
                </a:solidFill>
                <a:latin typeface="Fraunces"/>
              </a:rPr>
              <a:t>We scored zero of 159. The build was fine.</a:t>
            </a:r>
          </a:p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5F5F4"/>
                </a:solidFill>
                <a:latin typeface="Fraunces"/>
              </a:rPr>
              <a:t>The submission was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423160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F4444"/>
                </a:solidFill>
                <a:latin typeface="Inter"/>
              </a:rPr>
              <a:t>An empty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17520"/>
            <a:ext cx="30083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Our “Challenges I ran into” section shipped as five bold headings with no text under them — the only one of 159 like it. Nobody re-reads their own pitch like a judge does.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2423160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F4444"/>
                </a:solidFill>
                <a:latin typeface="Inter"/>
              </a:rPr>
              <a:t>A placeholder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3017520"/>
            <a:ext cx="30083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Community bio: “chill but cool.” No website, no socials. All seven funded teams had a website.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2423160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F4444"/>
                </a:solidFill>
                <a:latin typeface="Inter"/>
              </a:rPr>
              <a:t>One tag, wrong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017520"/>
            <a:ext cx="30083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A single `TypeScript` tag, filed under the most crowded category. The field median was five tags.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54880"/>
            <a:ext cx="10820095" cy="96012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919472"/>
            <a:ext cx="10234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5F5F4"/>
                </a:solidFill>
                <a:latin typeface="Inter"/>
              </a:rPr>
              <a:t>What changed: a pre-submission gate now fails a pitch with an empty section, a jargon tagline, too few tags or a missing community link. It reports 21 errors against our real Wave 1 draft.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504688"/>
            <a:ext cx="10234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71717A"/>
                </a:solidFill>
                <a:latin typeface="Inter"/>
              </a:rPr>
              <a:t>The post-mortem is in the repo: docs/WAVE1-POSTMORTEM.md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5F5F4"/>
                </a:solidFill>
                <a:latin typeface="Fraunces"/>
              </a:rPr>
              <a:t>Pay transparency stops being a compliance chore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5F5F4"/>
                </a:solidFill>
                <a:latin typeface="Fraunces"/>
              </a:rPr>
              <a:t>and becomes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37744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377440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8833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70632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Wave 2 · due 19 Oct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70632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Deploy v2, the report surface, a public verification page, and named EU pilots.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770632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in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09544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Wave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291840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Replace the trusted issuer with a Merkle membership proof — so no company learns its own employees' salaries even to verify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291840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planned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3075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13048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Wave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813048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Read-only connector for the payroll exports companies already produce. Nobody re-keys a year of payroll by hand.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813048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planned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51960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34256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334256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EO 14173 pay-scale reporting is back in force since the Fourth Circuit vacated its injunction in Feb 2026, plus ~15 state laws.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4334256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opening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5F5F4"/>
                </a:solidFill>
                <a:latin typeface="Inter"/>
              </a:rPr>
              <a:t>Buyer: the Head of Total Rewards at a 150–2,500 person European company. Their project starts now, because they must report on last year.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Live on Midnight Preprod  ·  github.com/PhiBao/gotit  ·  Apache-2.0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github.com/PhiBao/gotit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